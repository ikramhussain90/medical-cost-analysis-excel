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Charges ($)</c:v>
                  </c:pt>
                  <c:pt idx="1">
                    <c:v>BMI</c:v>
                  </c:pt>
                  <c:pt idx="2">
                    <c:v>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13279</c:v>
                </c:pt>
                <c:pt idx="1">
                  <c:v>30.66</c:v>
                </c:pt>
                <c:pt idx="2">
                  <c:v>39.22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Charges ($)</c:v>
                  </c:pt>
                  <c:pt idx="1">
                    <c:v>BMI</c:v>
                  </c:pt>
                  <c:pt idx="2">
                    <c:v>Age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9386</c:v>
                </c:pt>
                <c:pt idx="1">
                  <c:v>30.4</c:v>
                </c:pt>
                <c:pt idx="2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EAF4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Charges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12570</c:v>
                </c:pt>
                <c:pt idx="1">
                  <c:v>13975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AF4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BMI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30.38</c:v>
                </c:pt>
                <c:pt idx="1">
                  <c:v>30.94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AF4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Charges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Non-Smokers</c:v>
                  </c:pt>
                  <c:pt idx="1">
                    <c:v>Smokers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8441</c:v>
                </c:pt>
                <c:pt idx="1">
                  <c:v>32050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AF4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Charges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12385</c:v>
                </c:pt>
                <c:pt idx="1">
                  <c:v>12731</c:v>
                </c:pt>
                <c:pt idx="2">
                  <c:v>15074</c:v>
                </c:pt>
                <c:pt idx="3">
                  <c:v>15355</c:v>
                </c:pt>
                <c:pt idx="4">
                  <c:v>13851</c:v>
                </c:pt>
                <c:pt idx="5">
                  <c:v>8786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AF4F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Charges ($)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Northeast</c:v>
                  </c:pt>
                  <c:pt idx="1">
                    <c:v>Northwest</c:v>
                  </c:pt>
                  <c:pt idx="2">
                    <c:v>Southeast</c:v>
                  </c:pt>
                  <c:pt idx="3">
                    <c:v>Southwest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13406</c:v>
                </c:pt>
                <c:pt idx="1">
                  <c:v>12451</c:v>
                </c:pt>
                <c:pt idx="2">
                  <c:v>14735</c:v>
                </c:pt>
                <c:pt idx="3">
                  <c:v>12347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BMI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Northeast</c:v>
                  </c:pt>
                  <c:pt idx="1">
                    <c:v>Northwest</c:v>
                  </c:pt>
                  <c:pt idx="2">
                    <c:v>Southeast</c:v>
                  </c:pt>
                  <c:pt idx="3">
                    <c:v>Southwest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29.17</c:v>
                </c:pt>
                <c:pt idx="1">
                  <c:v>29.2</c:v>
                </c:pt>
                <c:pt idx="2">
                  <c:v>33.36</c:v>
                </c:pt>
                <c:pt idx="3">
                  <c:v>30.6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EAF4F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$1K-5K</c:v>
                  </c:pt>
                  <c:pt idx="1">
                    <c:v>$5K-9K</c:v>
                  </c:pt>
                  <c:pt idx="2">
                    <c:v>$9K-13K</c:v>
                  </c:pt>
                  <c:pt idx="3">
                    <c:v>$13K-17K</c:v>
                  </c:pt>
                  <c:pt idx="4">
                    <c:v>$17K-21K</c:v>
                  </c:pt>
                  <c:pt idx="5">
                    <c:v>$21K-25K</c:v>
                  </c:pt>
                  <c:pt idx="6">
                    <c:v>$25K-30K</c:v>
                  </c:pt>
                  <c:pt idx="7">
                    <c:v>$30K+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356</c:v>
                </c:pt>
                <c:pt idx="1">
                  <c:v>273</c:v>
                </c:pt>
                <c:pt idx="2">
                  <c:v>247</c:v>
                </c:pt>
                <c:pt idx="3">
                  <c:v>124</c:v>
                </c:pt>
                <c:pt idx="4">
                  <c:v>65</c:v>
                </c:pt>
                <c:pt idx="5">
                  <c:v>55</c:v>
                </c:pt>
                <c:pt idx="6">
                  <c:v>45</c:v>
                </c:pt>
                <c:pt idx="7">
                  <c:v>172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AF4FB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bubble3D val="0"/>
            <c:spPr>
              <a:solidFill>
                <a:srgbClr val="1C729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Obese</c:v>
                </c:pt>
                <c:pt idx="1">
                  <c:v>Overweight</c:v>
                </c:pt>
                <c:pt idx="2">
                  <c:v>Normal</c:v>
                </c:pt>
                <c:pt idx="3">
                  <c:v>Underweight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706</c:v>
                </c:pt>
                <c:pt idx="1">
                  <c:v>386</c:v>
                </c:pt>
                <c:pt idx="2">
                  <c:v>225</c:v>
                </c:pt>
                <c:pt idx="3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EAF4FB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Charges</c:v>
                </c:pt>
              </c:strCache>
            </c:strRef>
          </c:tx>
          <c:spPr>
            <a:solidFill>
              <a:srgbClr val="1C7293"/>
            </a:solidFill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16</c:v>
                </c:pt>
                <c:pt idx="1">
                  <c:v>18</c:v>
                </c:pt>
                <c:pt idx="2">
                  <c:v>20</c:v>
                </c:pt>
                <c:pt idx="3">
                  <c:v>22</c:v>
                </c:pt>
                <c:pt idx="4">
                  <c:v>24</c:v>
                </c:pt>
                <c:pt idx="5">
                  <c:v>26</c:v>
                </c:pt>
                <c:pt idx="6">
                  <c:v>28</c:v>
                </c:pt>
                <c:pt idx="7">
                  <c:v>30</c:v>
                </c:pt>
                <c:pt idx="8">
                  <c:v>32</c:v>
                </c:pt>
                <c:pt idx="9">
                  <c:v>34</c:v>
                </c:pt>
                <c:pt idx="10">
                  <c:v>36</c:v>
                </c:pt>
                <c:pt idx="11">
                  <c:v>38</c:v>
                </c:pt>
                <c:pt idx="12">
                  <c:v>40</c:v>
                </c:pt>
                <c:pt idx="13">
                  <c:v>42</c:v>
                </c:pt>
                <c:pt idx="14">
                  <c:v>44</c:v>
                </c:pt>
                <c:pt idx="15">
                  <c:v>46</c:v>
                </c:pt>
                <c:pt idx="16">
                  <c:v>48</c:v>
                </c:pt>
                <c:pt idx="17">
                  <c:v>50</c:v>
                </c:pt>
                <c:pt idx="18">
                  <c:v>52</c:v>
                </c:pt>
              </c:numCache>
            </c:numRef>
          </c:xVal>
          <c:yVal>
            <c:numRef>
              <c:f>Sheet1!$B$2:$B$20</c:f>
              <c:numCache>
                <c:formatCode>General</c:formatCode>
                <c:ptCount val="19"/>
                <c:pt idx="0">
                  <c:v>4500</c:v>
                </c:pt>
                <c:pt idx="1">
                  <c:v>5200</c:v>
                </c:pt>
                <c:pt idx="2">
                  <c:v>6100</c:v>
                </c:pt>
                <c:pt idx="3">
                  <c:v>7200</c:v>
                </c:pt>
                <c:pt idx="4">
                  <c:v>8500</c:v>
                </c:pt>
                <c:pt idx="5">
                  <c:v>9800</c:v>
                </c:pt>
                <c:pt idx="6">
                  <c:v>11200</c:v>
                </c:pt>
                <c:pt idx="7">
                  <c:v>12800</c:v>
                </c:pt>
                <c:pt idx="8">
                  <c:v>14500</c:v>
                </c:pt>
                <c:pt idx="9">
                  <c:v>16200</c:v>
                </c:pt>
                <c:pt idx="10">
                  <c:v>18100</c:v>
                </c:pt>
                <c:pt idx="11">
                  <c:v>20100</c:v>
                </c:pt>
                <c:pt idx="12">
                  <c:v>22300</c:v>
                </c:pt>
                <c:pt idx="13">
                  <c:v>24600</c:v>
                </c:pt>
                <c:pt idx="14">
                  <c:v>27100</c:v>
                </c:pt>
                <c:pt idx="15">
                  <c:v>29700</c:v>
                </c:pt>
                <c:pt idx="16">
                  <c:v>32500</c:v>
                </c:pt>
                <c:pt idx="17">
                  <c:v>35400</c:v>
                </c:pt>
                <c:pt idx="18">
                  <c:v>38500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Trendline</c:v>
                </c:pt>
              </c:strCache>
            </c:strRef>
          </c:tx>
          <c:spPr>
            <a:solidFill>
              <a:srgbClr val="1C7293"/>
            </a:solidFill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16</c:v>
                </c:pt>
                <c:pt idx="1">
                  <c:v>18</c:v>
                </c:pt>
                <c:pt idx="2">
                  <c:v>20</c:v>
                </c:pt>
                <c:pt idx="3">
                  <c:v>22</c:v>
                </c:pt>
                <c:pt idx="4">
                  <c:v>24</c:v>
                </c:pt>
                <c:pt idx="5">
                  <c:v>26</c:v>
                </c:pt>
                <c:pt idx="6">
                  <c:v>28</c:v>
                </c:pt>
                <c:pt idx="7">
                  <c:v>30</c:v>
                </c:pt>
                <c:pt idx="8">
                  <c:v>32</c:v>
                </c:pt>
                <c:pt idx="9">
                  <c:v>34</c:v>
                </c:pt>
                <c:pt idx="10">
                  <c:v>36</c:v>
                </c:pt>
                <c:pt idx="11">
                  <c:v>38</c:v>
                </c:pt>
                <c:pt idx="12">
                  <c:v>40</c:v>
                </c:pt>
                <c:pt idx="13">
                  <c:v>42</c:v>
                </c:pt>
                <c:pt idx="14">
                  <c:v>44</c:v>
                </c:pt>
                <c:pt idx="15">
                  <c:v>46</c:v>
                </c:pt>
                <c:pt idx="16">
                  <c:v>48</c:v>
                </c:pt>
                <c:pt idx="17">
                  <c:v>50</c:v>
                </c:pt>
                <c:pt idx="18">
                  <c:v>52</c:v>
                </c:pt>
              </c:numCache>
            </c:numRef>
          </c:xVal>
          <c:yVal>
            <c:numRef>
              <c:f>Sheet1!$C$2:$C$20</c:f>
              <c:numCache>
                <c:formatCode>General</c:formatCode>
                <c:ptCount val="19"/>
                <c:pt idx="0">
                  <c:v>1209</c:v>
                </c:pt>
                <c:pt idx="1">
                  <c:v>3088</c:v>
                </c:pt>
                <c:pt idx="2">
                  <c:v>4967</c:v>
                </c:pt>
                <c:pt idx="3">
                  <c:v>6846</c:v>
                </c:pt>
                <c:pt idx="4">
                  <c:v>8725</c:v>
                </c:pt>
                <c:pt idx="5">
                  <c:v>10605</c:v>
                </c:pt>
                <c:pt idx="6">
                  <c:v>12484</c:v>
                </c:pt>
                <c:pt idx="7">
                  <c:v>14363</c:v>
                </c:pt>
                <c:pt idx="8">
                  <c:v>16242</c:v>
                </c:pt>
                <c:pt idx="9">
                  <c:v>18121</c:v>
                </c:pt>
                <c:pt idx="10">
                  <c:v>20000</c:v>
                </c:pt>
                <c:pt idx="11">
                  <c:v>21879</c:v>
                </c:pt>
                <c:pt idx="12">
                  <c:v>23758</c:v>
                </c:pt>
                <c:pt idx="13">
                  <c:v>25638</c:v>
                </c:pt>
                <c:pt idx="14">
                  <c:v>27517</c:v>
                </c:pt>
                <c:pt idx="15">
                  <c:v>29396</c:v>
                </c:pt>
                <c:pt idx="16">
                  <c:v>31275</c:v>
                </c:pt>
                <c:pt idx="17">
                  <c:v>33154</c:v>
                </c:pt>
                <c:pt idx="18">
                  <c:v>35033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EAF4FB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Charges (Smokers)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Southeast</c:v>
                  </c:pt>
                  <c:pt idx="1">
                    <c:v>Southwest</c:v>
                  </c:pt>
                  <c:pt idx="2">
                    <c:v>Northwest</c:v>
                  </c:pt>
                  <c:pt idx="3">
                    <c:v>Northeast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34845</c:v>
                </c:pt>
                <c:pt idx="1">
                  <c:v>32269</c:v>
                </c:pt>
                <c:pt idx="2">
                  <c:v>30192</c:v>
                </c:pt>
                <c:pt idx="3">
                  <c:v>29674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AF4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Cost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CloudyML Data Analytics Project  |  Ikram Hussain  |  Tools: Excel, Pivot Tables, Charts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1828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of primary beneficiary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of insurance contractor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 (kg/m²)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dependents covered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 status (yes/no)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 area in the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medical costs billed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526280"/>
            <a:ext cx="2560320" cy="5943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4636008"/>
            <a:ext cx="256032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1,337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274320" y="4871009"/>
            <a:ext cx="256032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4526280"/>
            <a:ext cx="2560320" cy="5943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91840" y="4636008"/>
            <a:ext cx="256032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Columns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291840" y="4871009"/>
            <a:ext cx="256032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Analyzed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4526280"/>
            <a:ext cx="2560320" cy="59436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4636008"/>
            <a:ext cx="256032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Regions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309360" y="4871009"/>
            <a:ext cx="256032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Geographic Areas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Basic Statistics &amp; Data Understanding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005840"/>
          <a:ext cx="3108960" cy="2560320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$13,279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$9,386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$63,770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852160" y="3749040"/>
            <a:ext cx="3108960" cy="1005840"/>
          </a:xfrm>
          <a:prstGeom prst="rect">
            <a:avLst/>
          </a:prstGeom>
          <a:solidFill>
            <a:srgbClr val="EAF4FB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Charges are right-skewed — mean ($13,279) &gt; median ($9,386), indicating a small group with very high costs.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Gender Analysis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4114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914400"/>
          <a:ext cx="4114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480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Medical Charges by Gender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0" y="4480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BMI by Gender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Males incur higher avg charges ($13,975 vs $12,570) and slightly higher BMI (30.94 vs 30.38).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Impact of Smoking on Medical Costs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108960" cy="82296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0" y="1115568"/>
            <a:ext cx="31089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$8,441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669280" y="1483157"/>
            <a:ext cx="3108960" cy="312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Non-Smokers Avg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0" y="2011680"/>
            <a:ext cx="3108960" cy="82296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69280" y="2121408"/>
            <a:ext cx="31089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$32,050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669280" y="2488997"/>
            <a:ext cx="3108960" cy="312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Avg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3017520"/>
            <a:ext cx="3108960" cy="82296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3127248"/>
            <a:ext cx="31089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3.8x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669280" y="3494837"/>
            <a:ext cx="3108960" cy="312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for Smokers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EAF4FB"/>
          </a:solidFill>
          <a:ln/>
        </p:spPr>
        <p:txBody>
          <a:bodyPr wrap="square" lIns="76200" tIns="101600" rIns="1016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Smoking is the single biggest cost driver — smokers pay 3.8x more than non-smokers. This is the most significant finding in the dataset.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Dependents &amp; Medical Charges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005840"/>
          <a:ext cx="2834640" cy="274320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$12,385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$12,731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$15,074 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$15,355 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$13,851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$8,786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943600" y="3931920"/>
            <a:ext cx="2834640" cy="822960"/>
          </a:xfrm>
          <a:prstGeom prst="rect">
            <a:avLst/>
          </a:prstGeom>
          <a:solidFill>
            <a:srgbClr val="EAF4FB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Beneficiaries with 2–3 children have the highest charges. 5 children is an outlier due to very small sample size.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65760" y="4480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Children / Dependents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Geographical Insights by Region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005840"/>
          <a:ext cx="2834640" cy="2011680"/>
        </p:xfrm>
        <a:graphic>
          <a:graphicData uri="http://schemas.openxmlformats.org/drawingml/2006/table">
            <a:tbl>
              <a:tblPr/>
              <a:tblGrid>
                <a:gridCol w="944880"/>
                <a:gridCol w="944880"/>
                <a:gridCol w="9448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Northeast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$13,406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$14,735 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Northwest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$12,451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Southwest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$12,347 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035040" y="3200400"/>
            <a:ext cx="2834640" cy="914400"/>
          </a:xfrm>
          <a:prstGeom prst="rect">
            <a:avLst/>
          </a:prstGeom>
          <a:solidFill>
            <a:srgbClr val="EAF4FB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Southeast has highest charges ($14,735) AND highest BMI (33.36). Southwest has lowest charges ($12,347).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Cost Distribution Analysis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Brackets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Most beneficiaries (356) fall in $1K–$5K bracket. Distribution is right-skewed — majority have low costs, small group has very high charges.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BMI Classification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4572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097280"/>
          <a:ext cx="3657600" cy="201168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Obese (30+)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212080" y="3291840"/>
            <a:ext cx="3657600" cy="82296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 Used: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=IF(BMI&lt;18.5,"Underweight",IF(BMI&lt;25,"Normal",IF(BMI&lt;30,"Overweight","Obese")))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212080" y="4206240"/>
            <a:ext cx="3657600" cy="731520"/>
          </a:xfrm>
          <a:prstGeom prst="rect">
            <a:avLst/>
          </a:prstGeom>
          <a:solidFill>
            <a:srgbClr val="EAF4FB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82% of beneficiaries are overweight or obese — indicating high BMI as a systemic health risk in this dataset.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BMI vs Medical Charges (Correlation)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743200" cy="9144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0.039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12648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Positive Correlation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26480" y="2194560"/>
            <a:ext cx="2743200" cy="2286000"/>
          </a:xfrm>
          <a:prstGeom prst="rect">
            <a:avLst/>
          </a:prstGeom>
          <a:solidFill>
            <a:srgbClr val="EAF4FB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Positive but weak correlation (R²=0.039)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BMI slightly increases charges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BMI alone is not a strong predictor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Smoking + High BMI = biggest cost driver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Smoking &amp; Region Interaction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097280"/>
          <a:ext cx="2926080" cy="18288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Smokers Avg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Southeast 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$34,845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Southwest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$32,269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Northwest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Northeast 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$29,674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943600" y="3108960"/>
            <a:ext cx="2926080" cy="1280160"/>
          </a:xfrm>
          <a:prstGeom prst="rect">
            <a:avLst/>
          </a:prstGeom>
          <a:solidFill>
            <a:srgbClr val="EAF4FB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Southeast is the most expensive region for smokers ($34,845). Combined with Southeast's high BMI (33.36), it represents the highest-risk profile in the dataset.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Interactive Dashboard</a:t>
            </a:r>
            <a:endParaRPr lang="en-US" sz="2400" dirty="0"/>
          </a:p>
        </p:txBody>
      </p:sp>
      <p:pic>
        <p:nvPicPr>
          <p:cNvPr id="4" name="Image 0" descr="/mnt/user-data/uploads/Screenshot_2026-04-27_0321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includes: Gender Filter • Smoker Filter • Region Filter • BMI Classification Filter • 6 Interactive Charts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Dashboard Charts</a:t>
            </a:r>
            <a:endParaRPr lang="en-US" sz="2400" dirty="0"/>
          </a:p>
        </p:txBody>
      </p:sp>
      <p:pic>
        <p:nvPicPr>
          <p:cNvPr id="4" name="Image 0" descr="/mnt/user-data/uploads/Screenshot_2026-04-27_0334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2834640" cy="1828800"/>
          </a:xfrm>
          <a:prstGeom prst="rect">
            <a:avLst/>
          </a:prstGeom>
        </p:spPr>
      </p:pic>
      <p:pic>
        <p:nvPicPr>
          <p:cNvPr id="5" name="Image 1" descr="/mnt/user-data/uploads/Screenshot_2026-04-27_0334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14400"/>
            <a:ext cx="2834640" cy="1828800"/>
          </a:xfrm>
          <a:prstGeom prst="rect">
            <a:avLst/>
          </a:prstGeom>
        </p:spPr>
      </p:pic>
      <p:pic>
        <p:nvPicPr>
          <p:cNvPr id="6" name="Image 2" descr="/mnt/user-data/uploads/Screenshot_2026-04-27_0335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2834640" cy="1828800"/>
          </a:xfrm>
          <a:prstGeom prst="rect">
            <a:avLst/>
          </a:prstGeom>
        </p:spPr>
      </p:pic>
      <p:pic>
        <p:nvPicPr>
          <p:cNvPr id="7" name="Image 3" descr="/mnt/user-data/uploads/Screenshot_2026-04-27_03294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2926080"/>
            <a:ext cx="2834640" cy="1828800"/>
          </a:xfrm>
          <a:prstGeom prst="rect">
            <a:avLst/>
          </a:prstGeom>
        </p:spPr>
      </p:pic>
      <p:pic>
        <p:nvPicPr>
          <p:cNvPr id="8" name="Image 4" descr="/mnt/user-data/uploads/Screenshot_2026-04-27_03295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2926080"/>
            <a:ext cx="2834640" cy="1828800"/>
          </a:xfrm>
          <a:prstGeom prst="rect">
            <a:avLst/>
          </a:prstGeom>
        </p:spPr>
      </p:pic>
      <p:pic>
        <p:nvPicPr>
          <p:cNvPr id="9" name="Image 5" descr="/mnt/user-data/uploads/Screenshot_2026-04-27_03300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926080"/>
            <a:ext cx="2834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1737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155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🚬 Smoking = #1 Cost Driver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pay 3.8x more ($32,050 vs $8,441). Single biggest predictor of high medical costs.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64008" cy="1737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155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Southeast = Highest Risk Region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charges ($14,735) + Highest BMI (33.36). Smokers in Southeast pay $34,845.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64008" cy="1737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0358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82% Overweight or Obese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17% have Normal BMI. High BMI population contributes to elevated costs.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26080"/>
            <a:ext cx="64008" cy="1737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0358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👶 2–3 Children = Peak Costs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with 2–3 dependents incur the highest medical charges (~$15,000+).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12801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YouTube Video Link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148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your YouTube link here]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108960"/>
          <a:ext cx="640080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Ikram Hussain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Analytics — CloudyML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Excel, Pivot Tables, Charts, Slicers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Medical Cost — 1,337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Cost Analysis - CloudyML Project</dc:title>
  <dc:subject>PptxGenJS Presentation</dc:subject>
  <dc:creator>PptxGenJS</dc:creator>
  <cp:lastModifiedBy>PptxGenJS</cp:lastModifiedBy>
  <cp:revision>1</cp:revision>
  <dcterms:created xsi:type="dcterms:W3CDTF">2026-04-26T22:06:32Z</dcterms:created>
  <dcterms:modified xsi:type="dcterms:W3CDTF">2026-04-26T22:06:32Z</dcterms:modified>
</cp:coreProperties>
</file>